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69" r:id="rId3"/>
    <p:sldId id="271" r:id="rId4"/>
    <p:sldId id="270" r:id="rId5"/>
    <p:sldId id="263" r:id="rId6"/>
    <p:sldId id="258" r:id="rId7"/>
    <p:sldId id="261" r:id="rId8"/>
    <p:sldId id="264" r:id="rId9"/>
    <p:sldId id="267" r:id="rId10"/>
    <p:sldId id="257" r:id="rId11"/>
    <p:sldId id="272" r:id="rId12"/>
    <p:sldId id="273" r:id="rId13"/>
    <p:sldId id="274" r:id="rId14"/>
    <p:sldId id="275" r:id="rId15"/>
    <p:sldId id="276" r:id="rId16"/>
    <p:sldId id="277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87"/>
  </p:normalViewPr>
  <p:slideViewPr>
    <p:cSldViewPr snapToGrid="0" snapToObjects="1">
      <p:cViewPr>
        <p:scale>
          <a:sx n="102" d="100"/>
          <a:sy n="102" d="100"/>
        </p:scale>
        <p:origin x="856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01227-1919-EC4C-92BE-04D107DF72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FA165-B9B2-BB43-8E17-3F2919F67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CCCAE-1188-4E43-BCCE-2009684CD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6FB2-289C-7349-AD2E-AB8A456AE7D3}" type="datetimeFigureOut">
              <a:rPr lang="en-US" smtClean="0"/>
              <a:t>12/5/21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ED8A7-D894-7646-9EB3-543C5EE10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53271-8540-234B-B952-E0CE9DAE3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1A8B-0FE9-9344-A114-98C45BD4D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97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AEE9C-23EF-1841-B74D-138857208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FB8B7-8A5C-904A-91E7-CEF16A7E8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C6CBF-A2FE-5247-B170-219654A30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6FB2-289C-7349-AD2E-AB8A456AE7D3}" type="datetimeFigureOut">
              <a:rPr lang="en-US" smtClean="0"/>
              <a:t>12/5/21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725E6-8B33-8C4E-8490-DE434489A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68DF1-7F17-B543-828A-4737451EC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1A8B-0FE9-9344-A114-98C45BD4D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516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23A16-9B20-3343-BF2F-BAB758C75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60372-A49B-F44F-9A82-66EDFE0ED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3FAB6-CD8F-D24B-B93E-04E440F5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6FB2-289C-7349-AD2E-AB8A456AE7D3}" type="datetimeFigureOut">
              <a:rPr lang="en-US" smtClean="0"/>
              <a:t>12/5/21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DFB9D-C781-1C4C-A4A1-40CE446C8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52CF8-A625-E94A-A49B-7FEF3BA28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1A8B-0FE9-9344-A114-98C45BD4D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648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085C2-23A5-5045-A630-A3B0FE1B8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A4988-E39D-0A44-B5C7-364DF9842D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E7C83-38DB-A842-B398-DECE6C7B9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7E343-D4BC-CC46-B5C2-2634AA1FC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6FB2-289C-7349-AD2E-AB8A456AE7D3}" type="datetimeFigureOut">
              <a:rPr lang="en-US" smtClean="0"/>
              <a:t>12/5/21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5207D-9C85-0545-8520-3C7D1B1E6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9AD44-D80E-D841-BF51-4900F6D5F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1A8B-0FE9-9344-A114-98C45BD4D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620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13F39-1BB1-E14F-8667-845591BAB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3E1A3-B56D-3548-9043-983F4D97E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6DB62-1082-5E43-833F-98DF9B437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45590C-DD0F-754B-85A6-B78FFF8638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218B8F-48FE-444F-9489-CD61C4DAB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3FEDA4-DEFA-FE47-AED9-073AB4DF8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6FB2-289C-7349-AD2E-AB8A456AE7D3}" type="datetimeFigureOut">
              <a:rPr lang="en-US" smtClean="0"/>
              <a:t>12/5/21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807768-14E8-CE4E-8823-CBB64FED7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FBAE0-3FBC-284D-9D2B-DE9CAC21F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1A8B-0FE9-9344-A114-98C45BD4D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65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B4C59-91C0-C245-8FCA-06E27EDCF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C0E6D6-F2C8-5A41-98AD-B178D098B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6FB2-289C-7349-AD2E-AB8A456AE7D3}" type="datetimeFigureOut">
              <a:rPr lang="en-US" smtClean="0"/>
              <a:t>12/5/21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EF203-FB83-4F4C-8A1A-CBEBE126B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8B8C8F-B8C0-9F41-A527-661352981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1A8B-0FE9-9344-A114-98C45BD4D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3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FBD18E-4806-5249-A175-6A9C4123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6FB2-289C-7349-AD2E-AB8A456AE7D3}" type="datetimeFigureOut">
              <a:rPr lang="en-US" smtClean="0"/>
              <a:t>12/5/21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82E0AC-6E95-B848-885F-D595B14BA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305D-6506-CD4D-B4B3-B9C0238F0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1A8B-0FE9-9344-A114-98C45BD4D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52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2C3DC-8E58-6040-81B0-3A9AD15E3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9A8F4-5DA1-004D-9EEB-1EF1275B9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C9A7D-5B41-A147-8DD9-54480AFF2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428EC0-A6A7-CA43-88EC-726541E01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6FB2-289C-7349-AD2E-AB8A456AE7D3}" type="datetimeFigureOut">
              <a:rPr lang="en-US" smtClean="0"/>
              <a:t>12/5/21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E12EB-BFE2-9E4E-B519-26967310B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1BA05-09B2-FB44-A1C5-0788A548A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1A8B-0FE9-9344-A114-98C45BD4D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72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30C14-97A2-8847-865B-C6C83CBE9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34D2E9-0A8C-CF49-8811-7F9D6D9979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5CD1C-B4E2-5748-BF22-7CED491CE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AE518-E31A-6B49-BFB3-1BFDAE7F4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6FB2-289C-7349-AD2E-AB8A456AE7D3}" type="datetimeFigureOut">
              <a:rPr lang="en-US" smtClean="0"/>
              <a:t>12/5/21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FB160-DDB2-DD4E-998B-52EAD93C6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9969A-FBE1-7D44-81B6-49DFF287D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1A8B-0FE9-9344-A114-98C45BD4D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93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80547-E508-F444-B4FA-7FC19C91E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CD907D-24B5-6D4B-9DB6-43D936487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FB0FB-AB21-8643-A7B1-992EB386B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6FB2-289C-7349-AD2E-AB8A456AE7D3}" type="datetimeFigureOut">
              <a:rPr lang="en-US" smtClean="0"/>
              <a:t>12/5/21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A929B-92F0-7D4F-818C-91C581C00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1D7E9-A841-5D44-A88B-E5AF1D3D5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1A8B-0FE9-9344-A114-98C45BD4D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29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78DE68-ACAA-4A46-AC34-036A24C72A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27C360-3B57-F54F-83A6-F4AF2E593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D42E4-E769-FB42-8CE5-7ECEBC1CC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B6FB2-289C-7349-AD2E-AB8A456AE7D3}" type="datetimeFigureOut">
              <a:rPr lang="en-US" smtClean="0"/>
              <a:t>12/5/21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175F8-1265-644E-93E0-E7C5BC60D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F520A-AA04-0249-848D-C305C77D7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21A8B-0FE9-9344-A114-98C45BD4D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658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F987F8-A574-064C-AF3E-7A8C95E70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071A5-4C22-014B-A7B2-87E7D91DB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8EA3A-0A44-F745-BACA-B66F67B5D1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B6FB2-289C-7349-AD2E-AB8A456AE7D3}" type="datetimeFigureOut">
              <a:rPr lang="en-US" smtClean="0"/>
              <a:t>12/5/21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7791B-5BE2-EF4B-A200-04A1068D77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2A8E9-A917-004A-BC7A-DAC5F3761D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21A8B-0FE9-9344-A114-98C45BD4D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122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EAF780-836A-B046-BB11-252600F9F1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Houses market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57F5E-4FF9-8043-8F1A-2AD4276BA7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8600" y="4782320"/>
            <a:ext cx="7644627" cy="1329443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By Mitchell Fields</a:t>
            </a:r>
          </a:p>
        </p:txBody>
      </p:sp>
    </p:spTree>
    <p:extLst>
      <p:ext uri="{BB962C8B-B14F-4D97-AF65-F5344CB8AC3E}">
        <p14:creationId xmlns:p14="http://schemas.microsoft.com/office/powerpoint/2010/main" val="424740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0A6CD-0283-674B-9010-DB69099E9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4F20F-60A5-DF47-9F76-6EFDA1D93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US" sz="2000" dirty="0"/>
              <a:t>Sales information on house in the region</a:t>
            </a:r>
          </a:p>
          <a:p>
            <a:r>
              <a:rPr lang="en-US" sz="2000" dirty="0"/>
              <a:t>Region is a city called Ames located in </a:t>
            </a:r>
            <a:r>
              <a:rPr lang="en-US" sz="2000" dirty="0" err="1"/>
              <a:t>lowa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agram&#10;&#10;Description automatically generated with low confidence">
            <a:extLst>
              <a:ext uri="{FF2B5EF4-FFF2-40B4-BE49-F238E27FC236}">
                <a16:creationId xmlns:a16="http://schemas.microsoft.com/office/drawing/2014/main" id="{8D252E2C-64AF-DF49-86CF-9E2FAE2FF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862" y="1418425"/>
            <a:ext cx="6019331" cy="401790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172107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1A6AB-DD21-7845-B5EE-B9250AD85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of the values: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81BBC-3832-BE43-A3D7-413C710C1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Id </a:t>
            </a:r>
            <a:r>
              <a:rPr lang="en-US" dirty="0" err="1"/>
              <a:t>MSSubClass</a:t>
            </a:r>
            <a:r>
              <a:rPr lang="en-US" dirty="0"/>
              <a:t> </a:t>
            </a:r>
            <a:r>
              <a:rPr lang="en-US" dirty="0" err="1"/>
              <a:t>MSZoning</a:t>
            </a:r>
            <a:r>
              <a:rPr lang="en-US" dirty="0"/>
              <a:t> </a:t>
            </a:r>
            <a:r>
              <a:rPr lang="en-US" dirty="0" err="1"/>
              <a:t>LotFrontage</a:t>
            </a:r>
            <a:r>
              <a:rPr lang="en-US" dirty="0"/>
              <a:t> </a:t>
            </a:r>
            <a:r>
              <a:rPr lang="en-US" dirty="0" err="1"/>
              <a:t>LotArea</a:t>
            </a:r>
            <a:r>
              <a:rPr lang="en-US" dirty="0"/>
              <a:t> Street Alley </a:t>
            </a:r>
            <a:r>
              <a:rPr lang="en-US" dirty="0" err="1"/>
              <a:t>LotShape</a:t>
            </a:r>
            <a:r>
              <a:rPr lang="en-US" dirty="0"/>
              <a:t> </a:t>
            </a:r>
            <a:r>
              <a:rPr lang="en-US" dirty="0" err="1"/>
              <a:t>LandContour</a:t>
            </a:r>
            <a:r>
              <a:rPr lang="en-US" dirty="0"/>
              <a:t> Utilities </a:t>
            </a:r>
            <a:r>
              <a:rPr lang="en-US" dirty="0" err="1"/>
              <a:t>LotConfig</a:t>
            </a:r>
            <a:r>
              <a:rPr lang="en-US" dirty="0"/>
              <a:t> </a:t>
            </a:r>
            <a:r>
              <a:rPr lang="en-US" dirty="0" err="1"/>
              <a:t>LandSlope</a:t>
            </a:r>
            <a:r>
              <a:rPr lang="en-US" dirty="0"/>
              <a:t> Neighborhood Condition1 Condition2 </a:t>
            </a:r>
            <a:r>
              <a:rPr lang="en-US" dirty="0" err="1"/>
              <a:t>BldgType</a:t>
            </a:r>
            <a:r>
              <a:rPr lang="en-US" dirty="0"/>
              <a:t> </a:t>
            </a:r>
            <a:r>
              <a:rPr lang="en-US" dirty="0" err="1"/>
              <a:t>HouseStyle</a:t>
            </a:r>
            <a:r>
              <a:rPr lang="en-US" dirty="0"/>
              <a:t> </a:t>
            </a:r>
            <a:r>
              <a:rPr lang="en-US" dirty="0" err="1"/>
              <a:t>OverallQual</a:t>
            </a:r>
            <a:r>
              <a:rPr lang="en-US" dirty="0"/>
              <a:t> </a:t>
            </a:r>
            <a:r>
              <a:rPr lang="en-US" dirty="0" err="1"/>
              <a:t>OverallCond</a:t>
            </a:r>
            <a:r>
              <a:rPr lang="en-US" dirty="0"/>
              <a:t> </a:t>
            </a:r>
            <a:r>
              <a:rPr lang="en-US" dirty="0" err="1"/>
              <a:t>YearBuilt</a:t>
            </a:r>
            <a:r>
              <a:rPr lang="en-US" dirty="0"/>
              <a:t> </a:t>
            </a:r>
            <a:r>
              <a:rPr lang="en-US" dirty="0" err="1"/>
              <a:t>YearRemodAdd</a:t>
            </a:r>
            <a:r>
              <a:rPr lang="en-US" dirty="0"/>
              <a:t> </a:t>
            </a:r>
            <a:r>
              <a:rPr lang="en-US" dirty="0" err="1"/>
              <a:t>RoofStyle</a:t>
            </a:r>
            <a:r>
              <a:rPr lang="en-US" dirty="0"/>
              <a:t> </a:t>
            </a:r>
            <a:r>
              <a:rPr lang="en-US" dirty="0" err="1"/>
              <a:t>RoofMatl</a:t>
            </a:r>
            <a:r>
              <a:rPr lang="en-US" dirty="0"/>
              <a:t> Exterior1st Exterior2nd </a:t>
            </a:r>
            <a:r>
              <a:rPr lang="en-US" dirty="0" err="1"/>
              <a:t>MasVnrType</a:t>
            </a:r>
            <a:r>
              <a:rPr lang="en-US" dirty="0"/>
              <a:t> </a:t>
            </a:r>
            <a:r>
              <a:rPr lang="en-US" dirty="0" err="1"/>
              <a:t>MasVnrArea</a:t>
            </a:r>
            <a:r>
              <a:rPr lang="en-US" dirty="0"/>
              <a:t> </a:t>
            </a:r>
            <a:r>
              <a:rPr lang="en-US" dirty="0" err="1"/>
              <a:t>ExterQual</a:t>
            </a:r>
            <a:r>
              <a:rPr lang="en-US" dirty="0"/>
              <a:t> </a:t>
            </a:r>
            <a:r>
              <a:rPr lang="en-US" dirty="0" err="1"/>
              <a:t>ExterCond</a:t>
            </a:r>
            <a:r>
              <a:rPr lang="en-US" dirty="0"/>
              <a:t> Foundation </a:t>
            </a:r>
            <a:r>
              <a:rPr lang="en-US" dirty="0" err="1"/>
              <a:t>BsmtQual</a:t>
            </a:r>
            <a:r>
              <a:rPr lang="en-US" dirty="0"/>
              <a:t> </a:t>
            </a:r>
            <a:r>
              <a:rPr lang="en-US" dirty="0" err="1"/>
              <a:t>BsmtCond</a:t>
            </a:r>
            <a:r>
              <a:rPr lang="en-US" dirty="0"/>
              <a:t> </a:t>
            </a:r>
            <a:r>
              <a:rPr lang="en-US" dirty="0" err="1"/>
              <a:t>BsmtExposure</a:t>
            </a:r>
            <a:r>
              <a:rPr lang="en-US" dirty="0"/>
              <a:t> BsmtFinType1 BsmtFinSF1 BsmtFinType2 BsmtFinSF2 </a:t>
            </a:r>
            <a:r>
              <a:rPr lang="en-US" dirty="0" err="1"/>
              <a:t>BsmtUnfSF</a:t>
            </a:r>
            <a:r>
              <a:rPr lang="en-US" dirty="0"/>
              <a:t> </a:t>
            </a:r>
            <a:r>
              <a:rPr lang="en-US" dirty="0" err="1"/>
              <a:t>TotalBsmtSF</a:t>
            </a:r>
            <a:r>
              <a:rPr lang="en-US" dirty="0"/>
              <a:t> Heating </a:t>
            </a:r>
            <a:r>
              <a:rPr lang="en-US" dirty="0" err="1"/>
              <a:t>HeatingQC</a:t>
            </a:r>
            <a:r>
              <a:rPr lang="en-US" dirty="0"/>
              <a:t> </a:t>
            </a:r>
            <a:r>
              <a:rPr lang="en-US" dirty="0" err="1"/>
              <a:t>CentralAir</a:t>
            </a:r>
            <a:r>
              <a:rPr lang="en-US" dirty="0"/>
              <a:t> Electrical 1stFlrSF 2ndFlrSF </a:t>
            </a:r>
            <a:r>
              <a:rPr lang="en-US" dirty="0" err="1"/>
              <a:t>LowQualFinSF</a:t>
            </a:r>
            <a:r>
              <a:rPr lang="en-US" dirty="0"/>
              <a:t> </a:t>
            </a:r>
            <a:r>
              <a:rPr lang="en-US" dirty="0" err="1"/>
              <a:t>GrLivArea</a:t>
            </a:r>
            <a:r>
              <a:rPr lang="en-US" dirty="0"/>
              <a:t> </a:t>
            </a:r>
            <a:r>
              <a:rPr lang="en-US" dirty="0" err="1"/>
              <a:t>BsmtFullBath</a:t>
            </a:r>
            <a:r>
              <a:rPr lang="en-US" dirty="0"/>
              <a:t> </a:t>
            </a:r>
            <a:r>
              <a:rPr lang="en-US" dirty="0" err="1"/>
              <a:t>BsmtHalfBath</a:t>
            </a:r>
            <a:r>
              <a:rPr lang="en-US" dirty="0"/>
              <a:t> </a:t>
            </a:r>
            <a:r>
              <a:rPr lang="en-US" dirty="0" err="1"/>
              <a:t>FullBath</a:t>
            </a:r>
            <a:r>
              <a:rPr lang="en-US" dirty="0"/>
              <a:t> </a:t>
            </a:r>
            <a:r>
              <a:rPr lang="en-US" dirty="0" err="1"/>
              <a:t>HalfBath</a:t>
            </a:r>
            <a:r>
              <a:rPr lang="en-US" dirty="0"/>
              <a:t> </a:t>
            </a:r>
            <a:r>
              <a:rPr lang="en-US" dirty="0" err="1"/>
              <a:t>BedroomAbvGr</a:t>
            </a:r>
            <a:r>
              <a:rPr lang="en-US" dirty="0"/>
              <a:t> </a:t>
            </a:r>
            <a:r>
              <a:rPr lang="en-US" dirty="0" err="1"/>
              <a:t>KitchenAbvGr</a:t>
            </a:r>
            <a:r>
              <a:rPr lang="en-US" dirty="0"/>
              <a:t> </a:t>
            </a:r>
            <a:r>
              <a:rPr lang="en-US" dirty="0" err="1"/>
              <a:t>KitchenQual</a:t>
            </a:r>
            <a:r>
              <a:rPr lang="en-US" dirty="0"/>
              <a:t> </a:t>
            </a:r>
            <a:r>
              <a:rPr lang="en-US" dirty="0" err="1"/>
              <a:t>TotRmsAbvGrd</a:t>
            </a:r>
            <a:r>
              <a:rPr lang="en-US" dirty="0"/>
              <a:t> Functional Fireplaces </a:t>
            </a:r>
            <a:r>
              <a:rPr lang="en-US" dirty="0" err="1"/>
              <a:t>FireplaceQu</a:t>
            </a:r>
            <a:r>
              <a:rPr lang="en-US" dirty="0"/>
              <a:t> </a:t>
            </a:r>
            <a:r>
              <a:rPr lang="en-US" dirty="0" err="1"/>
              <a:t>GarageType</a:t>
            </a:r>
            <a:r>
              <a:rPr lang="en-US" dirty="0"/>
              <a:t> </a:t>
            </a:r>
            <a:r>
              <a:rPr lang="en-US" dirty="0" err="1"/>
              <a:t>GarageYrBlt</a:t>
            </a:r>
            <a:r>
              <a:rPr lang="en-US" dirty="0"/>
              <a:t> </a:t>
            </a:r>
            <a:r>
              <a:rPr lang="en-US" dirty="0" err="1"/>
              <a:t>GarageFinish</a:t>
            </a:r>
            <a:r>
              <a:rPr lang="en-US" dirty="0"/>
              <a:t> </a:t>
            </a:r>
            <a:r>
              <a:rPr lang="en-US" dirty="0" err="1"/>
              <a:t>GarageCars</a:t>
            </a:r>
            <a:r>
              <a:rPr lang="en-US" dirty="0"/>
              <a:t> </a:t>
            </a:r>
            <a:r>
              <a:rPr lang="en-US" dirty="0" err="1"/>
              <a:t>GarageArea</a:t>
            </a:r>
            <a:r>
              <a:rPr lang="en-US" dirty="0"/>
              <a:t> </a:t>
            </a:r>
            <a:r>
              <a:rPr lang="en-US" dirty="0" err="1"/>
              <a:t>GarageQual</a:t>
            </a:r>
            <a:r>
              <a:rPr lang="en-US" dirty="0"/>
              <a:t> </a:t>
            </a:r>
            <a:r>
              <a:rPr lang="en-US" dirty="0" err="1"/>
              <a:t>GarageCond</a:t>
            </a:r>
            <a:r>
              <a:rPr lang="en-US" dirty="0"/>
              <a:t> </a:t>
            </a:r>
            <a:r>
              <a:rPr lang="en-US" dirty="0" err="1"/>
              <a:t>PavedDrive</a:t>
            </a:r>
            <a:r>
              <a:rPr lang="en-US" dirty="0"/>
              <a:t> </a:t>
            </a:r>
            <a:r>
              <a:rPr lang="en-US" dirty="0" err="1"/>
              <a:t>WoodDeckSF</a:t>
            </a:r>
            <a:r>
              <a:rPr lang="en-US" dirty="0"/>
              <a:t> </a:t>
            </a:r>
            <a:r>
              <a:rPr lang="en-US" dirty="0" err="1"/>
              <a:t>OpenPorchSF</a:t>
            </a:r>
            <a:r>
              <a:rPr lang="en-US" dirty="0"/>
              <a:t> </a:t>
            </a:r>
            <a:r>
              <a:rPr lang="en-US" dirty="0" err="1"/>
              <a:t>EnclosedPorch</a:t>
            </a:r>
            <a:r>
              <a:rPr lang="en-US" dirty="0"/>
              <a:t> 3SsnPorch </a:t>
            </a:r>
            <a:r>
              <a:rPr lang="en-US" dirty="0" err="1"/>
              <a:t>ScreenPorch</a:t>
            </a:r>
            <a:r>
              <a:rPr lang="en-US" dirty="0"/>
              <a:t> </a:t>
            </a:r>
            <a:r>
              <a:rPr lang="en-US" dirty="0" err="1"/>
              <a:t>PoolArea</a:t>
            </a:r>
            <a:r>
              <a:rPr lang="en-US" dirty="0"/>
              <a:t> </a:t>
            </a:r>
            <a:r>
              <a:rPr lang="en-US" dirty="0" err="1"/>
              <a:t>PoolQC</a:t>
            </a:r>
            <a:r>
              <a:rPr lang="en-US" dirty="0"/>
              <a:t> Fence </a:t>
            </a:r>
            <a:r>
              <a:rPr lang="en-US" dirty="0" err="1"/>
              <a:t>MiscFeature</a:t>
            </a:r>
            <a:r>
              <a:rPr lang="en-US" dirty="0"/>
              <a:t> </a:t>
            </a:r>
            <a:r>
              <a:rPr lang="en-US" dirty="0" err="1"/>
              <a:t>MiscVal</a:t>
            </a:r>
            <a:r>
              <a:rPr lang="en-US" dirty="0"/>
              <a:t> </a:t>
            </a:r>
            <a:r>
              <a:rPr lang="en-US" dirty="0" err="1"/>
              <a:t>MoSold</a:t>
            </a:r>
            <a:r>
              <a:rPr lang="en-US" dirty="0"/>
              <a:t> </a:t>
            </a:r>
            <a:r>
              <a:rPr lang="en-US" dirty="0" err="1"/>
              <a:t>YrSold</a:t>
            </a:r>
            <a:r>
              <a:rPr lang="en-US" dirty="0"/>
              <a:t> </a:t>
            </a:r>
            <a:r>
              <a:rPr lang="en-US" dirty="0" err="1"/>
              <a:t>SaleType</a:t>
            </a:r>
            <a:r>
              <a:rPr lang="en-US" dirty="0"/>
              <a:t> </a:t>
            </a:r>
            <a:r>
              <a:rPr lang="en-US" dirty="0" err="1"/>
              <a:t>SaleCondition</a:t>
            </a:r>
            <a:r>
              <a:rPr lang="en-US" dirty="0"/>
              <a:t> </a:t>
            </a:r>
            <a:r>
              <a:rPr lang="en-US" dirty="0" err="1"/>
              <a:t>SalePrice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722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D57E7-E2AC-2F4C-87DD-591D75E71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Prices defines the values of the products worth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05E43-1F78-064A-9627-54BFDF820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97679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Highest valued house- $ 755,000</a:t>
            </a:r>
          </a:p>
          <a:p>
            <a:pPr marL="0" indent="0">
              <a:buNone/>
            </a:pPr>
            <a:r>
              <a:rPr lang="en-US" dirty="0"/>
              <a:t>Neighborhood-</a:t>
            </a:r>
            <a:r>
              <a:rPr lang="en-US" dirty="0" err="1"/>
              <a:t>NoRidge</a:t>
            </a:r>
            <a:endParaRPr lang="en-US" dirty="0"/>
          </a:p>
          <a:p>
            <a:pPr marL="0" indent="0">
              <a:buNone/>
            </a:pPr>
            <a:r>
              <a:rPr lang="en-US" u="sng" dirty="0"/>
              <a:t>About the house</a:t>
            </a:r>
          </a:p>
          <a:p>
            <a:r>
              <a:rPr lang="en-US" dirty="0"/>
              <a:t>Lot size - 21535 </a:t>
            </a:r>
          </a:p>
          <a:p>
            <a:r>
              <a:rPr lang="en-US" dirty="0"/>
              <a:t>2 story, 1 family house</a:t>
            </a:r>
          </a:p>
          <a:p>
            <a:r>
              <a:rPr lang="en-US" dirty="0"/>
              <a:t>4 bedrooms </a:t>
            </a:r>
          </a:p>
          <a:p>
            <a:r>
              <a:rPr lang="en-US" dirty="0"/>
              <a:t>Built in 1994 </a:t>
            </a:r>
          </a:p>
          <a:p>
            <a:r>
              <a:rPr lang="en-US" dirty="0"/>
              <a:t>Finished basement- 2444 sq ft</a:t>
            </a:r>
          </a:p>
          <a:p>
            <a:r>
              <a:rPr lang="en-US" dirty="0"/>
              <a:t>3.5 bathrooms </a:t>
            </a:r>
          </a:p>
          <a:p>
            <a:r>
              <a:rPr lang="en-US" dirty="0"/>
              <a:t>3 car garages attached to house</a:t>
            </a:r>
          </a:p>
          <a:p>
            <a:pPr marL="0" indent="0">
              <a:buNone/>
            </a:pPr>
            <a:r>
              <a:rPr lang="en-US" dirty="0"/>
              <a:t> Over quality is 10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C7A343-3FD8-684E-B03C-CA928B34E293}"/>
              </a:ext>
            </a:extLst>
          </p:cNvPr>
          <p:cNvSpPr txBox="1"/>
          <p:nvPr/>
        </p:nvSpPr>
        <p:spPr>
          <a:xfrm>
            <a:off x="5749447" y="1803748"/>
            <a:ext cx="478494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Lowest valued house- $34900</a:t>
            </a:r>
          </a:p>
          <a:p>
            <a:r>
              <a:rPr lang="en-US" sz="2400" dirty="0"/>
              <a:t>Neighborhood-IDOTRR</a:t>
            </a:r>
          </a:p>
          <a:p>
            <a:r>
              <a:rPr lang="en-US" sz="2400" u="sng" dirty="0"/>
              <a:t>About the house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lot size - 7879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1 story, 1 family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2 bedrooms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Built in 1920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Unfinished basement- 720 sq ft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1 bathroom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 garage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Over quality is 4</a:t>
            </a:r>
          </a:p>
        </p:txBody>
      </p:sp>
    </p:spTree>
    <p:extLst>
      <p:ext uri="{BB962C8B-B14F-4D97-AF65-F5344CB8AC3E}">
        <p14:creationId xmlns:p14="http://schemas.microsoft.com/office/powerpoint/2010/main" val="2198066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angle 191">
            <a:extLst>
              <a:ext uri="{FF2B5EF4-FFF2-40B4-BE49-F238E27FC236}">
                <a16:creationId xmlns:a16="http://schemas.microsoft.com/office/drawing/2014/main" id="{7CA0DAA6-33B8-4A25-810D-2F4D816FB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54297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553490-E8B3-0346-92C9-630EF8732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07" y="640081"/>
            <a:ext cx="3377183" cy="3681976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Sales Price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2EE1E-4364-6547-9E16-B7104BD46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07" y="4460487"/>
            <a:ext cx="3377184" cy="1757433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br>
              <a:rPr lang="en-US" sz="22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endParaRPr lang="en-US" sz="22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AABB535-56D6-D247-85B6-275997F5AC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51" r="12751" b="1"/>
          <a:stretch/>
        </p:blipFill>
        <p:spPr bwMode="auto">
          <a:xfrm>
            <a:off x="5496714" y="640080"/>
            <a:ext cx="5753944" cy="5577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3818AC-63DC-9E4C-AB74-B692EF77EEC0}"/>
              </a:ext>
            </a:extLst>
          </p:cNvPr>
          <p:cNvSpPr txBox="1"/>
          <p:nvPr/>
        </p:nvSpPr>
        <p:spPr>
          <a:xfrm>
            <a:off x="6713951" y="6217919"/>
            <a:ext cx="3707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Mean value of Sale Price 180921.20</a:t>
            </a:r>
          </a:p>
        </p:txBody>
      </p:sp>
    </p:spTree>
    <p:extLst>
      <p:ext uri="{BB962C8B-B14F-4D97-AF65-F5344CB8AC3E}">
        <p14:creationId xmlns:p14="http://schemas.microsoft.com/office/powerpoint/2010/main" val="1036517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F7C9D-A212-9F4E-8599-142612B64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342" y="486184"/>
            <a:ext cx="6052189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Correction to sale price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73F5C0-7917-7946-96EE-4DAF160D0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476" y="1832588"/>
            <a:ext cx="5452531" cy="216299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Top Correction to Sale price</a:t>
            </a:r>
          </a:p>
          <a:p>
            <a:pPr marL="0" indent="0">
              <a:buNone/>
            </a:pPr>
            <a:r>
              <a:rPr lang="en-US" sz="2200" dirty="0"/>
              <a:t>(.50 and over)</a:t>
            </a:r>
          </a:p>
          <a:p>
            <a:pPr marL="0" indent="0">
              <a:buNone/>
            </a:pPr>
            <a:r>
              <a:rPr lang="en-US" sz="1800" dirty="0" err="1"/>
              <a:t>OverallQual</a:t>
            </a:r>
            <a:r>
              <a:rPr lang="en-US" sz="1800" dirty="0"/>
              <a:t>                          </a:t>
            </a:r>
            <a:r>
              <a:rPr lang="en-US" sz="1800" dirty="0" err="1"/>
              <a:t>TotalBsmtSF</a:t>
            </a: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GrlivArea</a:t>
            </a:r>
            <a:r>
              <a:rPr lang="en-US" sz="1800" dirty="0"/>
              <a:t>                              1stFlrSF</a:t>
            </a:r>
          </a:p>
          <a:p>
            <a:pPr marL="0" indent="0">
              <a:buNone/>
            </a:pPr>
            <a:r>
              <a:rPr lang="en-US" sz="1800" dirty="0" err="1"/>
              <a:t>GarageCars</a:t>
            </a:r>
            <a:r>
              <a:rPr lang="en-US" sz="1800" dirty="0"/>
              <a:t>                          </a:t>
            </a:r>
            <a:r>
              <a:rPr lang="en-US" sz="1800" dirty="0" err="1"/>
              <a:t>FullBath</a:t>
            </a:r>
            <a:endParaRPr lang="en-US" sz="1800" dirty="0"/>
          </a:p>
          <a:p>
            <a:pPr marL="0" indent="0">
              <a:buNone/>
            </a:pPr>
            <a:r>
              <a:rPr lang="en-US" sz="1800" dirty="0" err="1"/>
              <a:t>GarageArea</a:t>
            </a:r>
            <a:r>
              <a:rPr lang="en-US" sz="1800" dirty="0"/>
              <a:t>                        </a:t>
            </a:r>
            <a:r>
              <a:rPr lang="en-US" sz="1800" dirty="0" err="1"/>
              <a:t>TotrmsAbvGrd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F8C3A27-A45B-D74B-984E-EDCA2E95A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9" y="4330892"/>
            <a:ext cx="11088835" cy="1325563"/>
          </a:xfrm>
          <a:custGeom>
            <a:avLst/>
            <a:gdLst/>
            <a:ahLst/>
            <a:cxnLst/>
            <a:rect l="l" t="t" r="r" b="b"/>
            <a:pathLst>
              <a:path w="4555700" h="2733294">
                <a:moveTo>
                  <a:pt x="82217" y="0"/>
                </a:moveTo>
                <a:lnTo>
                  <a:pt x="4473483" y="0"/>
                </a:lnTo>
                <a:cubicBezTo>
                  <a:pt x="4518890" y="0"/>
                  <a:pt x="4555700" y="36810"/>
                  <a:pt x="4555700" y="82217"/>
                </a:cubicBezTo>
                <a:lnTo>
                  <a:pt x="4555700" y="2651077"/>
                </a:lnTo>
                <a:cubicBezTo>
                  <a:pt x="4555700" y="2696484"/>
                  <a:pt x="4518890" y="2733294"/>
                  <a:pt x="4473483" y="2733294"/>
                </a:cubicBezTo>
                <a:lnTo>
                  <a:pt x="82217" y="2733294"/>
                </a:lnTo>
                <a:cubicBezTo>
                  <a:pt x="36810" y="2733294"/>
                  <a:pt x="0" y="2696484"/>
                  <a:pt x="0" y="2651077"/>
                </a:cubicBezTo>
                <a:lnTo>
                  <a:pt x="0" y="82217"/>
                </a:lnTo>
                <a:cubicBezTo>
                  <a:pt x="0" y="36810"/>
                  <a:pt x="36810" y="0"/>
                  <a:pt x="82217" y="0"/>
                </a:cubicBezTo>
                <a:close/>
              </a:path>
            </a:pathLst>
          </a:cu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4FA9FE61-661D-0240-860F-25BCA0024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9" y="222651"/>
            <a:ext cx="4209404" cy="3734150"/>
          </a:xfrm>
          <a:custGeom>
            <a:avLst/>
            <a:gdLst/>
            <a:ahLst/>
            <a:cxnLst/>
            <a:rect l="l" t="t" r="r" b="b"/>
            <a:pathLst>
              <a:path w="4438338" h="2323972">
                <a:moveTo>
                  <a:pt x="69905" y="0"/>
                </a:moveTo>
                <a:lnTo>
                  <a:pt x="4368433" y="0"/>
                </a:lnTo>
                <a:cubicBezTo>
                  <a:pt x="4407040" y="0"/>
                  <a:pt x="4438338" y="31298"/>
                  <a:pt x="4438338" y="69905"/>
                </a:cubicBezTo>
                <a:lnTo>
                  <a:pt x="4438338" y="2254067"/>
                </a:lnTo>
                <a:cubicBezTo>
                  <a:pt x="4438338" y="2292674"/>
                  <a:pt x="4407040" y="2323972"/>
                  <a:pt x="4368433" y="2323972"/>
                </a:cubicBezTo>
                <a:lnTo>
                  <a:pt x="69905" y="2323972"/>
                </a:lnTo>
                <a:cubicBezTo>
                  <a:pt x="31298" y="2323972"/>
                  <a:pt x="0" y="2292674"/>
                  <a:pt x="0" y="2254067"/>
                </a:cubicBezTo>
                <a:lnTo>
                  <a:pt x="0" y="69905"/>
                </a:lnTo>
                <a:cubicBezTo>
                  <a:pt x="0" y="31298"/>
                  <a:pt x="31298" y="0"/>
                  <a:pt x="6990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944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Sheet 4">
            <a:extLst>
              <a:ext uri="{FF2B5EF4-FFF2-40B4-BE49-F238E27FC236}">
                <a16:creationId xmlns:a16="http://schemas.microsoft.com/office/drawing/2014/main" id="{5C384F92-1EA9-4D76-8412-8221A2674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37" y="1517673"/>
            <a:ext cx="9336505" cy="56233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06161C-3D88-0744-8BB3-6C58AD023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7917" y="363957"/>
            <a:ext cx="7953124" cy="1153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A973AE-32AD-9544-AA04-47D6B9D2DA8E}"/>
              </a:ext>
            </a:extLst>
          </p:cNvPr>
          <p:cNvSpPr txBox="1"/>
          <p:nvPr/>
        </p:nvSpPr>
        <p:spPr>
          <a:xfrm>
            <a:off x="950495" y="659653"/>
            <a:ext cx="28274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/>
              <a:t>OverallQual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Sheet 1">
            <a:extLst>
              <a:ext uri="{FF2B5EF4-FFF2-40B4-BE49-F238E27FC236}">
                <a16:creationId xmlns:a16="http://schemas.microsoft.com/office/drawing/2014/main" id="{15B66559-264A-4521-8BD8-D8AE4E1F5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371475"/>
            <a:ext cx="9867900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374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089C66-37D4-A34F-AF42-C60C6524B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OverallQual</a:t>
            </a:r>
          </a:p>
        </p:txBody>
      </p:sp>
      <p:pic>
        <p:nvPicPr>
          <p:cNvPr id="7170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E7AC1EDA-A98C-BD42-A529-9147080548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21235" y="1675227"/>
            <a:ext cx="6549529" cy="439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9026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Sheet 2">
            <a:extLst>
              <a:ext uri="{FF2B5EF4-FFF2-40B4-BE49-F238E27FC236}">
                <a16:creationId xmlns:a16="http://schemas.microsoft.com/office/drawing/2014/main" id="{4F90D828-B505-4153-8DBE-AD35CB2BD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25" y="409575"/>
            <a:ext cx="9963150" cy="603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694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1B1C0-3E31-004B-8F0D-19425C844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7CB68-784C-4243-ACCD-08F0EDBDA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9737" y="4949302"/>
            <a:ext cx="964504" cy="43601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 Train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D30497-0FF0-E843-93EE-5FEA48EC2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11" y="1854200"/>
            <a:ext cx="4673600" cy="3149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DC1F8A-D8BC-BB45-BB82-69AE99565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25625"/>
            <a:ext cx="4673600" cy="314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ECA7E0-D9F1-1A4C-8FCE-5357AEEAF6B1}"/>
              </a:ext>
            </a:extLst>
          </p:cNvPr>
          <p:cNvSpPr txBox="1"/>
          <p:nvPr/>
        </p:nvSpPr>
        <p:spPr>
          <a:xfrm>
            <a:off x="7816241" y="4949302"/>
            <a:ext cx="1177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4156443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33101-0310-8543-9F92-B78D07978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Lasso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AFEF7-48FD-5743-9BB8-1AC139B5A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1825625"/>
            <a:ext cx="5867400" cy="4351338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Test values</a:t>
            </a:r>
          </a:p>
          <a:p>
            <a:r>
              <a:rPr lang="en-US" dirty="0" err="1"/>
              <a:t>rmse</a:t>
            </a:r>
            <a:r>
              <a:rPr lang="en-US" dirty="0"/>
              <a:t> on train set: 0.01191973752142423</a:t>
            </a:r>
          </a:p>
          <a:p>
            <a:r>
              <a:rPr lang="en-US" dirty="0"/>
              <a:t> </a:t>
            </a:r>
            <a:r>
              <a:rPr lang="en-US" dirty="0" err="1"/>
              <a:t>rmse</a:t>
            </a:r>
            <a:r>
              <a:rPr lang="en-US" dirty="0"/>
              <a:t> on validation set: 8.698369876921367 </a:t>
            </a:r>
          </a:p>
          <a:p>
            <a:r>
              <a:rPr lang="en-US" dirty="0"/>
              <a:t>r2_square on validation set: -44.2232523143366 </a:t>
            </a:r>
          </a:p>
          <a:p>
            <a:r>
              <a:rPr lang="en-US" dirty="0"/>
              <a:t>The best value of Alpha is: {'alpha': 0.0001}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AF1357-4D4A-AF46-AA55-F8C7C1B46AF1}"/>
              </a:ext>
            </a:extLst>
          </p:cNvPr>
          <p:cNvSpPr txBox="1"/>
          <p:nvPr/>
        </p:nvSpPr>
        <p:spPr>
          <a:xfrm>
            <a:off x="838200" y="1825625"/>
            <a:ext cx="444778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u="sng" dirty="0"/>
              <a:t>Training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rmse</a:t>
            </a:r>
            <a:r>
              <a:rPr lang="en-US" sz="2800" dirty="0"/>
              <a:t> on train set: 0.00023378189950111936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rmse</a:t>
            </a:r>
            <a:r>
              <a:rPr lang="en-US" sz="2800" dirty="0"/>
              <a:t> on validation set: 8.681457612872672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r2_square on validation set: -44.20549023798318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 The best value of Alpha is: {'alpha': 0.0001}</a:t>
            </a:r>
          </a:p>
        </p:txBody>
      </p:sp>
    </p:spTree>
    <p:extLst>
      <p:ext uri="{BB962C8B-B14F-4D97-AF65-F5344CB8AC3E}">
        <p14:creationId xmlns:p14="http://schemas.microsoft.com/office/powerpoint/2010/main" val="3703329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FDBDC-B539-4442-A276-D60160175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Ridge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47BE4-7936-2543-A8B3-982D5BA15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14089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Test data</a:t>
            </a:r>
          </a:p>
          <a:p>
            <a:r>
              <a:rPr lang="en-US" dirty="0"/>
              <a:t>r2_square on validation set: -506117.51212957746 The best value of Alpha is: {'alpha': 1}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7299F9-489D-3743-99B3-9DF50051B345}"/>
              </a:ext>
            </a:extLst>
          </p:cNvPr>
          <p:cNvSpPr txBox="1"/>
          <p:nvPr/>
        </p:nvSpPr>
        <p:spPr>
          <a:xfrm>
            <a:off x="838200" y="1825625"/>
            <a:ext cx="489872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Training data</a:t>
            </a:r>
          </a:p>
          <a:p>
            <a:r>
              <a:rPr lang="en-US" sz="2800" dirty="0"/>
              <a:t>r2_square on validation set: -79.64963078013625 The best value of Alpha is: {'alpha': 1}</a:t>
            </a:r>
          </a:p>
        </p:txBody>
      </p:sp>
    </p:spTree>
    <p:extLst>
      <p:ext uri="{BB962C8B-B14F-4D97-AF65-F5344CB8AC3E}">
        <p14:creationId xmlns:p14="http://schemas.microsoft.com/office/powerpoint/2010/main" val="2844223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0A58C-884C-0F4C-82E2-F8934D381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2B316-5F85-674C-B83F-ED379CC7A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72627" cy="4351338"/>
          </a:xfrm>
        </p:spPr>
        <p:txBody>
          <a:bodyPr/>
          <a:lstStyle/>
          <a:p>
            <a:pPr marL="0" indent="0">
              <a:buNone/>
            </a:pPr>
            <a:r>
              <a:rPr lang="en-US" u="sng" dirty="0"/>
              <a:t>Training data</a:t>
            </a:r>
          </a:p>
          <a:p>
            <a:r>
              <a:rPr lang="en-US" dirty="0"/>
              <a:t>Failure to get to work </a:t>
            </a:r>
          </a:p>
          <a:p>
            <a:r>
              <a:rPr lang="en-US" dirty="0"/>
              <a:t>Got params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D9014F-BE16-F24F-AED6-0D242A40BBE4}"/>
              </a:ext>
            </a:extLst>
          </p:cNvPr>
          <p:cNvSpPr txBox="1"/>
          <p:nvPr/>
        </p:nvSpPr>
        <p:spPr>
          <a:xfrm>
            <a:off x="6096000" y="1825625"/>
            <a:ext cx="41962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Test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Failure to get to work 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50365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D58CD-1FC7-9646-B95F-AAEECD59C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picked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D331A-AE9D-E947-9B30-AD21D655F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Lasso regression had lowest numbers of  Root mean square error (RMSE) this mean that the predicted model fits the actual model </a:t>
            </a:r>
          </a:p>
        </p:txBody>
      </p:sp>
    </p:spTree>
    <p:extLst>
      <p:ext uri="{BB962C8B-B14F-4D97-AF65-F5344CB8AC3E}">
        <p14:creationId xmlns:p14="http://schemas.microsoft.com/office/powerpoint/2010/main" val="2282413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5BE8E-0BDD-5445-A5EF-F9BE17FE0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Dependent Variable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1B0D2-F3FE-6242-8F24-F7A916E0F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data I believe that the dependent variable is </a:t>
            </a:r>
            <a:r>
              <a:rPr lang="en-US" dirty="0" err="1"/>
              <a:t>OverallQual</a:t>
            </a:r>
            <a:endParaRPr lang="en-US" dirty="0"/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It has a strong correction with </a:t>
            </a:r>
            <a:r>
              <a:rPr lang="en-US" dirty="0" err="1"/>
              <a:t>SalePrice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</a:t>
            </a:r>
          </a:p>
          <a:p>
            <a:r>
              <a:rPr lang="en-US" dirty="0"/>
              <a:t>All other facts play a role in </a:t>
            </a:r>
            <a:r>
              <a:rPr lang="en-US" dirty="0" err="1"/>
              <a:t>OverallQual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05399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00744-8871-CF49-8055-2B41DCFDB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Adding and remove from data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D1C42-D88D-DC4D-8864-0CC4F439B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Removed</a:t>
            </a:r>
            <a:r>
              <a:rPr lang="en-US" sz="2000" dirty="0">
                <a:sym typeface="Wingdings" pitchFamily="2" charset="2"/>
              </a:rPr>
              <a:t>: (80% or higher </a:t>
            </a:r>
            <a:r>
              <a:rPr lang="en-US" sz="2000" dirty="0" err="1">
                <a:sym typeface="Wingdings" pitchFamily="2" charset="2"/>
              </a:rPr>
              <a:t>emty</a:t>
            </a:r>
            <a:r>
              <a:rPr lang="en-US" sz="2000" dirty="0">
                <a:sym typeface="Wingdings" pitchFamily="2" charset="2"/>
              </a:rPr>
              <a:t> </a:t>
            </a:r>
            <a:r>
              <a:rPr lang="en-US" sz="2000">
                <a:sym typeface="Wingdings" pitchFamily="2" charset="2"/>
              </a:rPr>
              <a:t>values)-</a:t>
            </a:r>
            <a:r>
              <a:rPr lang="en-US" sz="2000" dirty="0">
                <a:sym typeface="Wingdings" pitchFamily="2" charset="2"/>
              </a:rPr>
              <a:t> </a:t>
            </a:r>
            <a:r>
              <a:rPr lang="en-US" sz="2000"/>
              <a:t>MiscFeature</a:t>
            </a:r>
            <a:r>
              <a:rPr lang="en-US" sz="2000" dirty="0"/>
              <a:t>, Fence, </a:t>
            </a:r>
            <a:r>
              <a:rPr lang="en-US" sz="2000" dirty="0" err="1"/>
              <a:t>PoolQC</a:t>
            </a:r>
            <a:r>
              <a:rPr lang="en-US" sz="2000" dirty="0"/>
              <a:t>, Alley, </a:t>
            </a:r>
            <a:r>
              <a:rPr lang="en-US" sz="2000" dirty="0" err="1"/>
              <a:t>MSZoning</a:t>
            </a:r>
            <a:r>
              <a:rPr lang="en-US" sz="2000" dirty="0"/>
              <a:t>, Street, </a:t>
            </a:r>
            <a:r>
              <a:rPr lang="en-US" sz="2000" dirty="0" err="1"/>
              <a:t>LotShape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Filled with </a:t>
            </a:r>
            <a:r>
              <a:rPr lang="en-US" sz="2000" dirty="0" err="1"/>
              <a:t>None,no</a:t>
            </a:r>
            <a:r>
              <a:rPr lang="en-US" sz="2000" dirty="0"/>
              <a:t> or Non values for missing data in the data set</a:t>
            </a:r>
          </a:p>
        </p:txBody>
      </p:sp>
    </p:spTree>
    <p:extLst>
      <p:ext uri="{BB962C8B-B14F-4D97-AF65-F5344CB8AC3E}">
        <p14:creationId xmlns:p14="http://schemas.microsoft.com/office/powerpoint/2010/main" val="1226061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{8883426A-2D7A-DA45-BF50-FD8E892ADFF1}tf10001119</Template>
  <TotalTime>3044</TotalTime>
  <Words>471</Words>
  <Application>Microsoft Macintosh PowerPoint</Application>
  <PresentationFormat>Widescreen</PresentationFormat>
  <Paragraphs>79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Houses market model</vt:lpstr>
      <vt:lpstr>Overview</vt:lpstr>
      <vt:lpstr>List of the values:</vt:lpstr>
      <vt:lpstr>Sales Prices defines the values of the products worth</vt:lpstr>
      <vt:lpstr>Sales Price</vt:lpstr>
      <vt:lpstr>Correction to sale price</vt:lpstr>
      <vt:lpstr>PowerPoint Presentation</vt:lpstr>
      <vt:lpstr>PowerPoint Presentation</vt:lpstr>
      <vt:lpstr>OverallQual</vt:lpstr>
      <vt:lpstr>PowerPoint Presentation</vt:lpstr>
      <vt:lpstr>Linear regression </vt:lpstr>
      <vt:lpstr>Lasso Regression</vt:lpstr>
      <vt:lpstr>Ridge Regression</vt:lpstr>
      <vt:lpstr>Random Forest Regression</vt:lpstr>
      <vt:lpstr>Regression picked</vt:lpstr>
      <vt:lpstr>Dependent Variable </vt:lpstr>
      <vt:lpstr>Adding and remove from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Houses market model</dc:title>
  <dc:creator>Microsoft Office User</dc:creator>
  <cp:lastModifiedBy>Microsoft Office User</cp:lastModifiedBy>
  <cp:revision>10</cp:revision>
  <dcterms:created xsi:type="dcterms:W3CDTF">2021-11-05T17:10:43Z</dcterms:created>
  <dcterms:modified xsi:type="dcterms:W3CDTF">2021-12-05T07:18:53Z</dcterms:modified>
</cp:coreProperties>
</file>